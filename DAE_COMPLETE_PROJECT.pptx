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9" r:id="rId10"/>
    <p:sldId id="271" r:id="rId11"/>
    <p:sldId id="270" r:id="rId12"/>
    <p:sldId id="272" r:id="rId13"/>
    <p:sldId id="273" r:id="rId14"/>
    <p:sldId id="274" r:id="rId15"/>
    <p:sldId id="275" r:id="rId16"/>
    <p:sldId id="276" r:id="rId17"/>
    <p:sldId id="268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66" r:id="rId26"/>
    <p:sldId id="26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sra Grandhi" userId="6f8e86aff967dab0" providerId="LiveId" clId="{F12E6838-9324-4E83-96D3-E679F640DAEB}"/>
    <pc:docChg chg="undo custSel modSld">
      <pc:chgData name="Sahasra Grandhi" userId="6f8e86aff967dab0" providerId="LiveId" clId="{F12E6838-9324-4E83-96D3-E679F640DAEB}" dt="2026-09-29T15:40:06.783" v="50" actId="1076"/>
      <pc:docMkLst>
        <pc:docMk/>
      </pc:docMkLst>
      <pc:sldChg chg="addSp modSp mod">
        <pc:chgData name="Sahasra Grandhi" userId="6f8e86aff967dab0" providerId="LiveId" clId="{F12E6838-9324-4E83-96D3-E679F640DAEB}" dt="2026-09-29T15:38:25.823" v="21" actId="12"/>
        <pc:sldMkLst>
          <pc:docMk/>
          <pc:sldMk cId="1840815435" sldId="268"/>
        </pc:sldMkLst>
        <pc:spChg chg="add mod">
          <ac:chgData name="Sahasra Grandhi" userId="6f8e86aff967dab0" providerId="LiveId" clId="{F12E6838-9324-4E83-96D3-E679F640DAEB}" dt="2026-09-29T15:38:25.823" v="21" actId="12"/>
          <ac:spMkLst>
            <pc:docMk/>
            <pc:sldMk cId="1840815435" sldId="268"/>
            <ac:spMk id="15" creationId="{ED6F260D-5C63-37BE-19E7-99F17C3754CA}"/>
          </ac:spMkLst>
        </pc:spChg>
        <pc:picChg chg="add mod">
          <ac:chgData name="Sahasra Grandhi" userId="6f8e86aff967dab0" providerId="LiveId" clId="{F12E6838-9324-4E83-96D3-E679F640DAEB}" dt="2026-09-29T15:38:11.845" v="18" actId="1076"/>
          <ac:picMkLst>
            <pc:docMk/>
            <pc:sldMk cId="1840815435" sldId="268"/>
            <ac:picMk id="8" creationId="{8D296ACD-FBDA-68C6-ADEF-D63885939114}"/>
          </ac:picMkLst>
        </pc:picChg>
        <pc:picChg chg="add mod">
          <ac:chgData name="Sahasra Grandhi" userId="6f8e86aff967dab0" providerId="LiveId" clId="{F12E6838-9324-4E83-96D3-E679F640DAEB}" dt="2026-09-29T15:38:03.196" v="15" actId="1076"/>
          <ac:picMkLst>
            <pc:docMk/>
            <pc:sldMk cId="1840815435" sldId="268"/>
            <ac:picMk id="11" creationId="{26EFAEC3-A39B-9D02-395E-19228B795569}"/>
          </ac:picMkLst>
        </pc:picChg>
        <pc:picChg chg="add mod">
          <ac:chgData name="Sahasra Grandhi" userId="6f8e86aff967dab0" providerId="LiveId" clId="{F12E6838-9324-4E83-96D3-E679F640DAEB}" dt="2026-09-29T15:38:06.314" v="16" actId="1076"/>
          <ac:picMkLst>
            <pc:docMk/>
            <pc:sldMk cId="1840815435" sldId="268"/>
            <ac:picMk id="13" creationId="{20E9BCB5-E5EC-19D5-BF2C-7D59EAFA536A}"/>
          </ac:picMkLst>
        </pc:picChg>
      </pc:sldChg>
      <pc:sldChg chg="modSp mod">
        <pc:chgData name="Sahasra Grandhi" userId="6f8e86aff967dab0" providerId="LiveId" clId="{F12E6838-9324-4E83-96D3-E679F640DAEB}" dt="2026-09-29T14:49:30.727" v="6" actId="1076"/>
        <pc:sldMkLst>
          <pc:docMk/>
          <pc:sldMk cId="2138207800" sldId="275"/>
        </pc:sldMkLst>
        <pc:picChg chg="mod">
          <ac:chgData name="Sahasra Grandhi" userId="6f8e86aff967dab0" providerId="LiveId" clId="{F12E6838-9324-4E83-96D3-E679F640DAEB}" dt="2026-09-29T14:49:30.727" v="6" actId="1076"/>
          <ac:picMkLst>
            <pc:docMk/>
            <pc:sldMk cId="2138207800" sldId="275"/>
            <ac:picMk id="15" creationId="{5AAFB9FB-4804-76D5-1EA2-A0BAD2F92B79}"/>
          </ac:picMkLst>
        </pc:picChg>
        <pc:picChg chg="mod">
          <ac:chgData name="Sahasra Grandhi" userId="6f8e86aff967dab0" providerId="LiveId" clId="{F12E6838-9324-4E83-96D3-E679F640DAEB}" dt="2026-09-29T14:49:18.234" v="3" actId="1076"/>
          <ac:picMkLst>
            <pc:docMk/>
            <pc:sldMk cId="2138207800" sldId="275"/>
            <ac:picMk id="18" creationId="{63480C21-EE1E-9D37-AD90-E24C262C0BEF}"/>
          </ac:picMkLst>
        </pc:picChg>
        <pc:picChg chg="mod">
          <ac:chgData name="Sahasra Grandhi" userId="6f8e86aff967dab0" providerId="LiveId" clId="{F12E6838-9324-4E83-96D3-E679F640DAEB}" dt="2026-09-29T14:49:24.709" v="4" actId="14100"/>
          <ac:picMkLst>
            <pc:docMk/>
            <pc:sldMk cId="2138207800" sldId="275"/>
            <ac:picMk id="20" creationId="{64BB6497-FCD8-B430-6DFB-0293830C93D7}"/>
          </ac:picMkLst>
        </pc:picChg>
      </pc:sldChg>
      <pc:sldChg chg="addSp modSp mod">
        <pc:chgData name="Sahasra Grandhi" userId="6f8e86aff967dab0" providerId="LiveId" clId="{F12E6838-9324-4E83-96D3-E679F640DAEB}" dt="2026-09-29T15:40:06.783" v="50" actId="1076"/>
        <pc:sldMkLst>
          <pc:docMk/>
          <pc:sldMk cId="1984318832" sldId="277"/>
        </pc:sldMkLst>
        <pc:spChg chg="mod">
          <ac:chgData name="Sahasra Grandhi" userId="6f8e86aff967dab0" providerId="LiveId" clId="{F12E6838-9324-4E83-96D3-E679F640DAEB}" dt="2026-09-29T15:39:01.678" v="40" actId="20577"/>
          <ac:spMkLst>
            <pc:docMk/>
            <pc:sldMk cId="1984318832" sldId="277"/>
            <ac:spMk id="7" creationId="{0D785AE5-14C1-76BA-4F63-381CA466449B}"/>
          </ac:spMkLst>
        </pc:spChg>
        <pc:spChg chg="add mod">
          <ac:chgData name="Sahasra Grandhi" userId="6f8e86aff967dab0" providerId="LiveId" clId="{F12E6838-9324-4E83-96D3-E679F640DAEB}" dt="2026-09-29T15:40:06.783" v="50" actId="1076"/>
          <ac:spMkLst>
            <pc:docMk/>
            <pc:sldMk cId="1984318832" sldId="277"/>
            <ac:spMk id="8" creationId="{ABE4C984-DD7C-CBCF-BC9A-370615697A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9672F-D475-4CE2-B628-E72AA39A1D39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BC382-E2B8-4B3F-85AF-E5C886580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7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sales and profit values were calculated to understand the general performance of the Superstore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1BC382-E2B8-4B3F-85AF-E5C88658053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1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4733-4F8B-B7B6-93A7-901E510C2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EA8B0-5960-00D1-630B-24398CAB9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8BEC-D655-0583-3F67-E14C5CD3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38315-5CA9-2582-033A-56D068541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9C39E-D2E4-E330-A517-A7712C06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518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D7EA-A20B-77F4-2FEB-7E3EDFC23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570EC-FFF6-8CFE-640B-1C8B2F6E9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581C1-E2C4-2953-5A4A-9BC76FFBF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EF71E-B770-7F8B-345B-05536202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D8602-43BD-AD99-27D8-7035E07B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37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23A24-712F-90EF-D413-E373D73D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72E84-DD44-E0E8-D4A2-147770A5B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97B97-06E1-6C39-FB0D-08E9E49F2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364EF-7C5F-5033-27B1-402A60F6E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ABCF0-3450-16FC-876E-DCEE160F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771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BB8B-F73E-488B-3228-84E801B4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0304-FC9A-11D4-71E6-35858D094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47C91-6378-0C6B-5460-7CA933B2C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EA2BD-A91D-18B0-CD55-BE9536600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EF94F-DE4C-9A41-C5D8-18570BCB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330D-1D05-B493-9CAA-C6501186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22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C070-5E60-A76A-932C-AFCF132E8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68200-C03F-373B-A5AC-4768ABBC5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8C359-26BC-432E-F09D-82D10ADC3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99D282-7F38-574B-3AC9-603BB98DE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3FBA0-338E-189C-FF45-C10F9FCAD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5962D-FE4F-CBFF-B863-75C4C370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ED2600-3E7B-F789-C9FF-F44683360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868DC4-6360-0555-4EDF-6329F7D2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956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8C6DC-39FC-1A84-842C-2A8FF675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D981F-666D-C349-6C96-9FD15A8CC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70D9A-979D-6E9E-0437-C3A04F77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82911-ACAA-D0DE-0D3A-D06C2040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02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D0A6E9-5E48-AF4E-229F-E85EB016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E5EBC5-BDE9-EFC1-C7EA-5A1C220E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A10D0-77F7-A1D7-C593-8BDAC76AB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0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05C0-8A19-2F81-32B6-8D10960E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12EFB-7110-1AB1-20EC-9502A21A7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EC9C0-E676-1C1B-B6BB-6037F3253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2E4B7-0B27-D539-2AD5-64DC5001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07CCF-97C2-07C5-3A59-F5244E5B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9A4D0-E8F6-97D9-B784-3FE1A8E5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97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FF2A8-CF8F-906C-DAA2-CC85C00CD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77339-BA3A-8D91-441D-FDEBC666D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3C9D9-0BD0-9A15-0C49-F56D6F064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2BCE3-9051-4213-D792-9590C278B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58775-D4EA-E1A2-4453-E9094BBD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EE72F-C476-D916-F4E0-E3CF69CB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25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70E7-2E30-EF50-0D83-19406F3F8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081CA-08BE-B54A-A56A-BB4952BAF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9C2B6-9238-B1B3-65DB-345DBCEE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37A5F-8B02-01EC-2A91-10270196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A0EF0-8258-89DC-A66F-3515C62A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24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3D8EB3-13EE-C290-D9F3-E76B1DED3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EBA0D-1C4A-E052-BEE5-5C0A6AE9D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CFDA3-1CAB-79D7-0F33-E112424F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A58B6-4CDC-9904-1B47-D0CA5F16D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DE715-91C2-F33F-F82D-F2806E35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7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6C93B8-DE74-0068-6FE2-CCF27BE1A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EB380-3804-7929-52F1-02D49FDF4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7DD1C-B92C-E90A-3C01-B24002B0B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A77F-1FB2-43C2-AE91-09080CA416A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D3A13-940C-5BF8-2CD2-9CD31B257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3755C-B3C5-27E8-3B97-164F8540C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8536F-27A4-465E-A5F8-ABC339029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8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jp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8936BFF4-E598-5B1B-44BB-70773499F9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3337" y="180412"/>
            <a:ext cx="4610910" cy="6286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913764-4B8E-EE99-A026-EB30D2AB9420}"/>
              </a:ext>
            </a:extLst>
          </p:cNvPr>
          <p:cNvSpPr txBox="1"/>
          <p:nvPr/>
        </p:nvSpPr>
        <p:spPr>
          <a:xfrm>
            <a:off x="6455870" y="132699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br>
              <a:rPr lang="en-IN" b="0" dirty="0">
                <a:solidFill>
                  <a:schemeClr val="accent1">
                    <a:lumMod val="75000"/>
                  </a:schemeClr>
                </a:solidFill>
              </a:rPr>
            </a:b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57F36-A962-86F4-518F-4E9FD658D55F}"/>
              </a:ext>
            </a:extLst>
          </p:cNvPr>
          <p:cNvSpPr txBox="1"/>
          <p:nvPr/>
        </p:nvSpPr>
        <p:spPr>
          <a:xfrm>
            <a:off x="2124760" y="1973327"/>
            <a:ext cx="86622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 Analysis System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B0382A-A9C8-42F0-36C9-9A29662EEF17}"/>
              </a:ext>
            </a:extLst>
          </p:cNvPr>
          <p:cNvSpPr txBox="1"/>
          <p:nvPr/>
        </p:nvSpPr>
        <p:spPr>
          <a:xfrm>
            <a:off x="2462960" y="3227042"/>
            <a:ext cx="7491664" cy="2125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IN" sz="2400" b="1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lvl="5">
              <a:lnSpc>
                <a:spcPct val="150000"/>
              </a:lnSpc>
              <a:spcBef>
                <a:spcPts val="130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. Sahasra (25B11CS306)</a:t>
            </a:r>
          </a:p>
          <a:p>
            <a:pPr lvl="5">
              <a:lnSpc>
                <a:spcPct val="150000"/>
              </a:lnSpc>
              <a:spcBef>
                <a:spcPts val="130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. Maheswari (25B11CS203)</a:t>
            </a:r>
          </a:p>
          <a:p>
            <a:pPr lvl="5">
              <a:lnSpc>
                <a:spcPct val="150000"/>
              </a:lnSpc>
              <a:spcBef>
                <a:spcPts val="130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. Vijaya (25B11CS860)</a:t>
            </a:r>
          </a:p>
          <a:p>
            <a:pPr lvl="5">
              <a:lnSpc>
                <a:spcPct val="150000"/>
              </a:lnSpc>
              <a:spcBef>
                <a:spcPts val="130"/>
              </a:spcBef>
            </a:pPr>
            <a:r>
              <a:rPr lang="en-IN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. Amruta (25B11CS796)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EDA59-1F9B-C21F-6D5F-D0EF8905E0D0}"/>
              </a:ext>
            </a:extLst>
          </p:cNvPr>
          <p:cNvSpPr txBox="1"/>
          <p:nvPr/>
        </p:nvSpPr>
        <p:spPr>
          <a:xfrm>
            <a:off x="3197539" y="937146"/>
            <a:ext cx="6306225" cy="1036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750"/>
              </a:spcBef>
            </a:pPr>
            <a:endParaRPr lang="en-IN" sz="11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4"/>
              </a:spcBef>
            </a:pPr>
            <a:r>
              <a:rPr lang="en-IN" sz="2400" b="1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sz="2400" b="1" spc="-60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Computer Science Engineering</a:t>
            </a:r>
            <a:endParaRPr lang="en-IN" sz="2400" b="1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002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7246BF2-ADD9-42BF-9DB7-BC09627B9A0A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81AF83D-0451-493E-CC6E-BAA98EE2192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9DD7284-1D74-7E1F-B6DC-8D051C3332E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3BF00D4-E06F-327A-C95A-C905B5BD84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1EA63F6-79B1-5DEB-9ABE-684F045CD885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  <a:endParaRPr sz="2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FFEADC7-776D-731B-FC1F-7FAF71C23D9F}"/>
              </a:ext>
            </a:extLst>
          </p:cNvPr>
          <p:cNvSpPr txBox="1"/>
          <p:nvPr/>
        </p:nvSpPr>
        <p:spPr>
          <a:xfrm>
            <a:off x="773162" y="2000500"/>
            <a:ext cx="11102398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generate large amounts of sales data from daily transactions.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contains information about products, customers, regions, sales, and profits.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selected Sales Data Analysis because it has strong real-world business applications.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Python, Pandas, and visualization to convert raw sales data into meaningful insights.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D3DA49C1-2CD3-4BBC-E422-FBF08F9B566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8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096FAE1-8C6E-7D6F-1F89-9627048D74ED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E741634-9D4F-1245-EFAA-AED4447161D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D8E0EFC-B2C3-FA94-2773-36E88D2D69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5E13555-A96D-EF6B-4D54-5D0B6C09A91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9760EF3-0A36-B63F-0D4F-914BA360FBFA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Statement </a:t>
              </a:r>
            </a:p>
            <a:p>
              <a:pPr algn="ctr"/>
              <a:endParaRPr sz="2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F4489FB-9633-10A3-7C46-92EA9DE87874}"/>
              </a:ext>
            </a:extLst>
          </p:cNvPr>
          <p:cNvSpPr txBox="1"/>
          <p:nvPr/>
        </p:nvSpPr>
        <p:spPr>
          <a:xfrm>
            <a:off x="854159" y="1883796"/>
            <a:ext cx="113378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sales data does not clearly show which products, categories, and regions perform 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identify sales trends, patterns, and areas of low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clean, analyze, and visualize the sales data to identify important patterns and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help businesses understand performance and make better decisions.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EC77B502-A75D-B579-FE7B-92E11ADE8AB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1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3">
            <a:extLst>
              <a:ext uri="{FF2B5EF4-FFF2-40B4-BE49-F238E27FC236}">
                <a16:creationId xmlns:a16="http://schemas.microsoft.com/office/drawing/2014/main" id="{C6D6DD53-D26B-00B4-532A-16691CFC3111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9A32D598-13D9-AD33-F0F9-5C44063C480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87301446-3B1E-770B-0150-58BB92398B1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9C3F6C1E-F986-C6A5-9ED0-A8761699226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5B8D5388-96D1-18DD-804A-41CF50E004C0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  <a:r>
                <a: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  <a:p>
              <a:pPr algn="ctr"/>
              <a:endParaRPr sz="2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EFD194-C3F0-6E2A-3077-59F862D3A97C}"/>
              </a:ext>
            </a:extLst>
          </p:cNvPr>
          <p:cNvSpPr txBox="1"/>
          <p:nvPr/>
        </p:nvSpPr>
        <p:spPr>
          <a:xfrm>
            <a:off x="954694" y="2088146"/>
            <a:ext cx="101183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the sales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sales and profit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top-performing products, categories, and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discover important sales trends and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useful insights for better business decisions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4AD70B03-405F-01D0-D87A-C62182A47EB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5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DC9B2B97-E71B-3B5E-DFB6-5860FB83ECA0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D8D2A982-14B3-DD90-1B39-A3C59FDD80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DBD8F81-7B47-EDD0-0EF2-5BFF0D66C6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FF330302-2B79-5B59-19C4-5C5ADD0F28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A248BB1-DA6B-5DF5-5C9A-2DD9E766FA58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Dataset Description </a:t>
              </a:r>
            </a:p>
            <a:p>
              <a:pPr algn="ctr"/>
              <a:endParaRPr sz="2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CFC7B76-125E-226C-56C2-23A8A876183D}"/>
              </a:ext>
            </a:extLst>
          </p:cNvPr>
          <p:cNvSpPr txBox="1"/>
          <p:nvPr/>
        </p:nvSpPr>
        <p:spPr>
          <a:xfrm>
            <a:off x="452966" y="1339740"/>
            <a:ext cx="112860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Superstore Sales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Kaggle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format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CSV (Comma-Separated Values)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environment: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type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Sales transaction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information about orders, customers, products, categories, regions, sales, and profit.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Kaggle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provides easily accessible and well-structured datasets for data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for learning, practice, and data science projects.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Superstore dataset contains sufficient real-world-like sales records and multiple useful attributes for analysis.</a:t>
            </a:r>
          </a:p>
        </p:txBody>
      </p:sp>
      <p:pic>
        <p:nvPicPr>
          <p:cNvPr id="18" name="object 3">
            <a:extLst>
              <a:ext uri="{FF2B5EF4-FFF2-40B4-BE49-F238E27FC236}">
                <a16:creationId xmlns:a16="http://schemas.microsoft.com/office/drawing/2014/main" id="{56A3F0C0-E148-5387-780A-84CCC46152F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7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06098DBA-44D3-93B0-8DD8-D36BCA8B8B9A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AD76C47-70A2-1C69-4998-4436D00ABD7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349C7403-F94E-62E2-6A31-95FA9BE6805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7CF4E17B-8A8E-0F1D-0D0A-5B78F13B074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974EEEBD-0D42-2045-4A5F-106E9D80C6B5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Why Superstore Dataset </a:t>
              </a:r>
            </a:p>
            <a:p>
              <a:pPr algn="ctr"/>
              <a:endParaRPr sz="2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D14D0ED-320C-C031-AAC8-50D3E349EF35}"/>
              </a:ext>
            </a:extLst>
          </p:cNvPr>
          <p:cNvSpPr txBox="1"/>
          <p:nvPr/>
        </p:nvSpPr>
        <p:spPr>
          <a:xfrm>
            <a:off x="1042742" y="1578491"/>
            <a:ext cx="994226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Sales Information – Contains sales, quantity, discount and profit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Business Dimensions – Includes customer, product, region and order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Different Analysis – Enables region-wise, product-wise, category-wise and time-wise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Business-Relevant Dataset – Helps identify sales performance, profitability and customer/product patterns.</a:t>
            </a: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28EEBC38-8E4C-A8C9-A8DD-9925920F26B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64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BB04313C-1835-9246-5EA9-2B27F68DF920}"/>
              </a:ext>
            </a:extLst>
          </p:cNvPr>
          <p:cNvGrpSpPr/>
          <p:nvPr/>
        </p:nvGrpSpPr>
        <p:grpSpPr>
          <a:xfrm>
            <a:off x="3429000" y="0"/>
            <a:ext cx="5334000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D5E02B3-61D2-C984-11D5-C3BEF919B5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7E61C60-B2CE-C1DA-37F1-8F63E577D3F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FAC4B541-9E8A-F22B-AC2B-7E427430BB5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69008F85-D05B-5AFA-CF7C-74516C17E052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Important Attributes </a:t>
              </a:r>
            </a:p>
            <a:p>
              <a:pPr algn="ctr"/>
              <a:endParaRPr sz="22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E47552F-6808-988C-405F-D5EB7D2DA0F1}"/>
              </a:ext>
            </a:extLst>
          </p:cNvPr>
          <p:cNvSpPr txBox="1"/>
          <p:nvPr/>
        </p:nvSpPr>
        <p:spPr>
          <a:xfrm>
            <a:off x="1070250" y="686931"/>
            <a:ext cx="637986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file_path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encoding='latin1’)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df.head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df.shape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(9994, 21)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df.columns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C55F8735-D328-A3C5-1A24-38299D043F5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DA1896-2CDB-7BBC-5637-E9FE62BC4A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63" r="612" b="2314"/>
          <a:stretch>
            <a:fillRect/>
          </a:stretch>
        </p:blipFill>
        <p:spPr>
          <a:xfrm>
            <a:off x="1070250" y="2353456"/>
            <a:ext cx="6709645" cy="430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192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2AA1118-BC22-9419-4DC3-7BD802B8F222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476A843C-7C31-9512-5CE7-24C79B98472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0061134-6603-DE38-6E5C-72FF4B014FB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9B11452-56FD-1B81-14E4-EBAD7134088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CA2FB2D-DE07-0215-7FDC-1DA7DFB83F40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Information</a:t>
              </a:r>
              <a:r>
                <a:rPr lang="en-IN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834F554-A0D6-C33C-DBDC-477B92117600}"/>
              </a:ext>
            </a:extLst>
          </p:cNvPr>
          <p:cNvSpPr/>
          <p:nvPr/>
        </p:nvSpPr>
        <p:spPr>
          <a:xfrm>
            <a:off x="1289154" y="1918741"/>
            <a:ext cx="2563318" cy="13790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FE59B3-4416-1C56-AF97-7DE54394FBD2}"/>
              </a:ext>
            </a:extLst>
          </p:cNvPr>
          <p:cNvSpPr/>
          <p:nvPr/>
        </p:nvSpPr>
        <p:spPr>
          <a:xfrm>
            <a:off x="1289154" y="1918741"/>
            <a:ext cx="2563318" cy="1379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ABF075-A9F4-5DAF-F029-671691F607E1}"/>
              </a:ext>
            </a:extLst>
          </p:cNvPr>
          <p:cNvSpPr txBox="1"/>
          <p:nvPr/>
        </p:nvSpPr>
        <p:spPr>
          <a:xfrm>
            <a:off x="919656" y="1099146"/>
            <a:ext cx="1002214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df.info()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tells 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Non-null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Order Date, Ship Date, Customer Name, Region, Category, Sub-Category, Product Name, Ship Mode, Segment, State, City, Country, Market, Product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(int64):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ID, Postal Code, Quantity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(float64):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Sales, Discount, Profit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["Order Date"]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pd.to_datetime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["Order Date"])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["Ship Date"]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pd.to_datetime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["Ship Date"])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3F83F9F7-31DF-90B8-CD2D-E2329AB1F49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18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677A-FAFD-74EC-A453-55A435AE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A8FFD28-B24E-9513-A6A8-DC9944A9F650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75392AC-8813-8440-338C-303446B2EC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C7B04C1-88B4-D8D7-B70F-E6C408EABFC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98CD7B6-3C50-97D7-263E-9AA5BF4311A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50B479D-B846-25E7-0CAC-B3BBCCCA5744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Preprocessing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401A30A5-FD12-3EF4-57B1-5E714F06C2B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D40CEE-ECAB-A304-505D-388E82C72E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350" y="991896"/>
            <a:ext cx="3732624" cy="7922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5DA9FA-8DBF-8848-17EF-35112D2A95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4201" y="1282729"/>
            <a:ext cx="3732624" cy="12778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85807E-0205-5F81-B3D7-84D709F764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3469" y="2862134"/>
            <a:ext cx="5844241" cy="37335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5146FA-B833-9CC5-17B3-624B310A5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974" b="3776"/>
          <a:stretch>
            <a:fillRect/>
          </a:stretch>
        </p:blipFill>
        <p:spPr>
          <a:xfrm>
            <a:off x="1499016" y="1921646"/>
            <a:ext cx="1708879" cy="476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406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2147-5E03-446A-75DA-3004372B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ED46E02-4597-1D0F-FAC3-E24FC6250599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5BD4AC0-EDE4-5E4F-C5AD-106AA0FEBDF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09F7BA7-E218-4806-E139-5E4B4F45E6F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4C927FED-1277-9FF4-C5A0-EBB2009C742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3B551A6-A414-5686-5EE4-6E5B4575BAF9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Outlier Detection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972E63E1-1330-77BC-E011-B4C0FE0C810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F5A2FE-0528-8130-A7CD-F3066F984D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099146"/>
            <a:ext cx="5680187" cy="21035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FE4521-C1B4-852E-34FE-FF5EEC7D7C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3240" y="3429000"/>
            <a:ext cx="7525062" cy="307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47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C41D1-2093-817E-A8D2-F20B8457A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87345C8-273A-4234-D2E9-FF322A78979C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B2BD86E-E658-E02F-A71B-DB2D054FD6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EDE607A4-F153-B33F-8E07-0EEBC97EC3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0154A331-0741-BF6A-AB65-A3614CB7560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86DE089-4D9F-0D34-5187-1AA0A002DA64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Validation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7599F89F-4CC7-A56E-ED6F-5AA13F17BC0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A5F0D6-A9C7-6DF6-A22F-545B6359FD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029" y="1798820"/>
            <a:ext cx="10675692" cy="358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5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F54B4-E447-6CA4-955A-3582F9076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FE61BC8-DA47-2665-B046-DA4832CBB39F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6217FC0-F216-E951-8814-ED5C3133201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BA15B571-AAE7-935F-5F92-E50BF65A06F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99F9DFBB-E24D-A7C5-44CC-CB6FAFA9408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6597FF3-01D3-1A0D-587D-2AE1C17796E9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IN" sz="24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Creation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7D5E259B-E2DE-893D-B825-90BCDD9F829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B31247-794F-83EE-972A-A367601326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797" y="3028969"/>
            <a:ext cx="6282203" cy="35666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797FB9-105A-BA49-085B-540FD33381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5379" y="1393931"/>
            <a:ext cx="7563041" cy="133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73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BD94F-67C8-DE7F-FEF6-C8D1CF22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121804A-AFFF-9F08-01F8-4C3B8B30D0CA}"/>
              </a:ext>
            </a:extLst>
          </p:cNvPr>
          <p:cNvGrpSpPr/>
          <p:nvPr/>
        </p:nvGrpSpPr>
        <p:grpSpPr>
          <a:xfrm>
            <a:off x="3144184" y="48252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85FBAFC-C3DC-8ED8-7C35-2F0D9C288E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F981A52-1E23-35E6-580D-A64ABBFB761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89A92BB-AD43-69B9-F99D-8173D9E0188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3033F6D-80D5-20F6-B9ED-C271704C8892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Exploratory Data Analysis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82136F1A-20B4-A02C-FB13-77B0AC93146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E49771CB-42F5-5945-0691-15234DFA678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080FC4-24C8-AF06-4229-70BD3CDB7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0357" y="1901278"/>
            <a:ext cx="6717832" cy="18194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470EAB-710F-251E-ADB6-7FD1177AA446}"/>
              </a:ext>
            </a:extLst>
          </p:cNvPr>
          <p:cNvSpPr txBox="1"/>
          <p:nvPr/>
        </p:nvSpPr>
        <p:spPr>
          <a:xfrm>
            <a:off x="5106126" y="4347722"/>
            <a:ext cx="67694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is performed to understand sales patterns, regional performance, product performance, profitability, and trends in the Superstore dataset.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67C608-78EE-24BB-C0EC-099669A17145}"/>
              </a:ext>
            </a:extLst>
          </p:cNvPr>
          <p:cNvSpPr txBox="1"/>
          <p:nvPr/>
        </p:nvSpPr>
        <p:spPr>
          <a:xfrm>
            <a:off x="316440" y="702967"/>
            <a:ext cx="65237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includes: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Region-wise sales and profit analysis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and sub-category analysis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distribution 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and loss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sales and profit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 , basic sales forecasting is performed using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3195435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F3E17-6750-9657-6EE3-FDE6881F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4C5B397-4067-3143-ABF8-16596F8B75CB}"/>
              </a:ext>
            </a:extLst>
          </p:cNvPr>
          <p:cNvGrpSpPr/>
          <p:nvPr/>
        </p:nvGrpSpPr>
        <p:grpSpPr>
          <a:xfrm>
            <a:off x="3204146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774C728-D71C-093E-0DA3-529D380AA52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F9583EB2-22DC-AD8A-6555-D167DBCF720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60C46A3-BB6C-5F1A-117F-1F14789EE09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7E7ACB6-2B2E-4A24-1289-02DF56BB7230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Region-Wise </a:t>
              </a:r>
              <a:r>
                <a:rPr lang="en-US" sz="22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Groupby</a:t>
              </a:r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Analysis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B12E687A-8812-89CB-C0F6-B4A13107EBE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E1158472-94A5-D45D-45D7-31E9ACCE66F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6F5FC6-5DC6-F5DB-F8F4-3584642B4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1647" y="1351026"/>
            <a:ext cx="6974792" cy="1885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A13FA3-8FEE-C7B1-AA7C-6F0C42E4AE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733" y="3768995"/>
            <a:ext cx="5219536" cy="26695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47D776-84EB-EA8A-F673-D4DF846DD0A0}"/>
              </a:ext>
            </a:extLst>
          </p:cNvPr>
          <p:cNvSpPr txBox="1"/>
          <p:nvPr/>
        </p:nvSpPr>
        <p:spPr>
          <a:xfrm>
            <a:off x="417778" y="1351026"/>
            <a:ext cx="46604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grouped by Region and total sales are calculated using the sum() aggregation function.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compare the sales performance of different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helps compare sales and profitability across regions, categories, and sub-categories.</a:t>
            </a:r>
          </a:p>
        </p:txBody>
      </p:sp>
    </p:spTree>
    <p:extLst>
      <p:ext uri="{BB962C8B-B14F-4D97-AF65-F5344CB8AC3E}">
        <p14:creationId xmlns:p14="http://schemas.microsoft.com/office/powerpoint/2010/main" val="237218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5F389-6134-3805-AD99-1A0ADC5E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C9B74C3-7B09-1F28-AFC7-A9E22699774B}"/>
              </a:ext>
            </a:extLst>
          </p:cNvPr>
          <p:cNvGrpSpPr/>
          <p:nvPr/>
        </p:nvGrpSpPr>
        <p:grpSpPr>
          <a:xfrm>
            <a:off x="3204146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BD8B292-46B3-4D80-22E8-B2629078B78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9635F4C-BAA8-8C5F-55D2-B613C27896B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DD0CBA1-F55A-F516-B4AC-83ED16D5B2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C4ADBBA-D7B6-667B-3185-B78DA5F9FD68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Aggregation Analysis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CB0C94E-43CC-7CF8-4E1B-21B4F3E1D1F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953E254D-389E-8F37-6E22-BA969421E98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C04BB8-C1D4-E275-AB22-359374FD2CDF}"/>
              </a:ext>
            </a:extLst>
          </p:cNvPr>
          <p:cNvSpPr txBox="1"/>
          <p:nvPr/>
        </p:nvSpPr>
        <p:spPr>
          <a:xfrm>
            <a:off x="401658" y="1691632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functions summarize the data into meaningful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sum() calculates total sales or profit.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mean() calculates average sales or profit.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AFB9FB-4804-76D5-1EA2-A0BAD2F92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463" y="1180481"/>
            <a:ext cx="5717543" cy="23172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3480C21-EE1E-9D37-AD90-E24C262C0B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145" y="3794365"/>
            <a:ext cx="5431144" cy="21121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BB6497-FCD8-B430-6DFB-0293830C9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2060" y="3794365"/>
            <a:ext cx="6093500" cy="247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07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769D2-4162-9F3C-8E65-B3A4E404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7235690-FDFF-6418-65D8-D04882214619}"/>
              </a:ext>
            </a:extLst>
          </p:cNvPr>
          <p:cNvGrpSpPr/>
          <p:nvPr/>
        </p:nvGrpSpPr>
        <p:grpSpPr>
          <a:xfrm>
            <a:off x="3204146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274ED44-D344-7D6F-272F-A2626017BF0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65D7E92-B0BA-DAA1-E7FE-534B6C5BD5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A62C4F5B-6BC1-7609-5C24-2C6B3F0CB02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261CDF7-0896-8256-98BF-1C50EFB6730C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Region-Wise Sales Bar Graph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DA7851AB-8B7A-BA81-D4C1-F78BDE33850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1A2695AA-8CE1-5EC9-1FD2-6F22CCFCA64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7766DC-8336-1247-899E-1BDF1101AB1F}"/>
              </a:ext>
            </a:extLst>
          </p:cNvPr>
          <p:cNvSpPr txBox="1"/>
          <p:nvPr/>
        </p:nvSpPr>
        <p:spPr>
          <a:xfrm>
            <a:off x="214883" y="1474383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bar chart is used to compare total sales among the four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makes regional differences easier to understand.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167D88-3FA4-828E-DC22-F66529736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019" y="1578491"/>
            <a:ext cx="5191364" cy="39229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ACC218-D2E4-72F8-D7A4-EA45FCF512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54" y="3314767"/>
            <a:ext cx="4791983" cy="312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809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0AAB-8176-B8FB-0A8F-78FD8C720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0549FF2-83F3-020F-ECE9-4B059AC73271}"/>
              </a:ext>
            </a:extLst>
          </p:cNvPr>
          <p:cNvGrpSpPr/>
          <p:nvPr/>
        </p:nvGrpSpPr>
        <p:grpSpPr>
          <a:xfrm>
            <a:off x="3112545" y="60485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F977718-12A2-8D7A-85F4-1A9EB9CE2B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1D090D8-40BE-0CCF-4F98-C6A1945506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9934E86-2E9E-9617-6D94-59DCA9020E2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4A333C7-2D9B-44FE-6196-3AD13F560D2F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Category &amp; Subcategory Analysis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D474B6E-6C77-5C4B-630C-D07EBBC7F67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C3B5AD39-2D96-5B51-BA6F-EA03E2BD258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296ACD-FBDA-68C6-ADEF-D63885939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4580" y="2733477"/>
            <a:ext cx="3663905" cy="3814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EFAEC3-A39B-9D02-395E-19228B7955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1023" y="804518"/>
            <a:ext cx="3277057" cy="22565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E9BCB5-E5EC-19D5-BF2C-7D59EAFA53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675" y="3118633"/>
            <a:ext cx="3010319" cy="34294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D6F260D-5C63-37BE-19E7-99F17C3754CA}"/>
              </a:ext>
            </a:extLst>
          </p:cNvPr>
          <p:cNvSpPr txBox="1"/>
          <p:nvPr/>
        </p:nvSpPr>
        <p:spPr>
          <a:xfrm>
            <a:off x="737937" y="141590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were grouped according to product categories to compare their overall performance.</a:t>
            </a:r>
          </a:p>
        </p:txBody>
      </p:sp>
    </p:spTree>
    <p:extLst>
      <p:ext uri="{BB962C8B-B14F-4D97-AF65-F5344CB8AC3E}">
        <p14:creationId xmlns:p14="http://schemas.microsoft.com/office/powerpoint/2010/main" val="1840815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19F57-29BC-32A8-E211-311AA993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2141B6B-10D3-2167-50B5-58C3B853BC70}"/>
              </a:ext>
            </a:extLst>
          </p:cNvPr>
          <p:cNvGrpSpPr/>
          <p:nvPr/>
        </p:nvGrpSpPr>
        <p:grpSpPr>
          <a:xfrm>
            <a:off x="3112545" y="60485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F2CE541-624B-146D-6778-626106DD86B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BCA6616D-32C0-8281-2774-776E7D2327C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06B213F-5132-318D-0CDC-38EFD733DDD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D785AE5-14C1-76BA-4F63-381CA466449B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Monthly Sales Trend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320D80E6-1663-D6D0-F93A-DB6044332EB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1C3A0A71-C482-C5DF-E1D5-00A68E4C56F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E4C984-DD7C-CBCF-BC9A-370615697A6D}"/>
              </a:ext>
            </a:extLst>
          </p:cNvPr>
          <p:cNvSpPr txBox="1"/>
          <p:nvPr/>
        </p:nvSpPr>
        <p:spPr>
          <a:xfrm>
            <a:off x="705853" y="119205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were calculated by grouping the data according to year and month.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 chart is used to visualize changes in sales over time from 2014 to 2017.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1FBD9-0991-B18B-46A8-DB777D0374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429" y="3222814"/>
            <a:ext cx="6096001" cy="25143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560879-DBBC-B9E7-37ED-800D305C1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63" y="2357060"/>
            <a:ext cx="3791479" cy="44011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425BC4-9D6F-CE12-819A-51D3326E42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63" y="808529"/>
            <a:ext cx="3496163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318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F574-6483-5885-68CF-2814D3F6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54BB39F-E067-3494-79A1-FB74908E0803}"/>
              </a:ext>
            </a:extLst>
          </p:cNvPr>
          <p:cNvGrpSpPr/>
          <p:nvPr/>
        </p:nvGrpSpPr>
        <p:grpSpPr>
          <a:xfrm>
            <a:off x="3112545" y="60485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ECDC0D1-23AA-FDE5-7F52-2C134BDF91D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394C69FB-4672-9E4D-03A7-01DBF459776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1816049-9BAC-7BF1-6780-E3811DEE667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0D2E822-37C9-D948-6460-3F084E4CE5FF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Sales Distribution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B8F7E55A-B38F-9538-8DDA-DC5162864BC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B51051FB-48CC-32EF-0A21-6DE66BF7399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19A8DF-B2E7-D866-29C8-C6585076FB55}"/>
              </a:ext>
            </a:extLst>
          </p:cNvPr>
          <p:cNvSpPr txBox="1"/>
          <p:nvPr/>
        </p:nvSpPr>
        <p:spPr>
          <a:xfrm>
            <a:off x="224852" y="1258796"/>
            <a:ext cx="63079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histogram is used to understand the distribution of individual sales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frequently different sales ranges occur.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shows the distribution of sales values across 9,994 transactions.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sales values are concentrated in the lower range, while a smaller number of transactions have very high sales values.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1C0127-FBCF-E0FD-5B16-BF6135AC6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2153" y="3590794"/>
            <a:ext cx="3743847" cy="3010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53B32B-434E-4866-48AF-BFA9BF2BC7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939" y="779449"/>
            <a:ext cx="5754061" cy="314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34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FDF83-5CB5-3CAF-CB51-54C768CB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4E0E921-53B6-F37E-1807-C2E8777B554F}"/>
              </a:ext>
            </a:extLst>
          </p:cNvPr>
          <p:cNvGrpSpPr/>
          <p:nvPr/>
        </p:nvGrpSpPr>
        <p:grpSpPr>
          <a:xfrm>
            <a:off x="3112545" y="60485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814EC4B-B717-0703-C3B8-1BA427945F4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C5A52C3-5631-4E67-3275-6E571CFEF42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807276A-324F-3ED0-78E4-086D573E1AB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16E638D-62AA-CFBE-8D5B-9FCC3BCC3F20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 &amp; Loss Analysis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2307113C-3332-0ABB-FF29-8CFD92306B7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61324658-F212-E892-332E-41495EF8A7B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76B2E6-293D-C924-7D3A-4C01566CF2B2}"/>
              </a:ext>
            </a:extLst>
          </p:cNvPr>
          <p:cNvSpPr txBox="1"/>
          <p:nvPr/>
        </p:nvSpPr>
        <p:spPr>
          <a:xfrm>
            <a:off x="385867" y="1192055"/>
            <a:ext cx="6093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was analyzed at category and sub-category levels to identify profitable and loss-making areas.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9B2D86-0A85-9F04-C5B1-BA1AF936F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49" y="2963903"/>
            <a:ext cx="4570156" cy="35842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2D3D48-9558-8559-DC0A-479DCF9410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9545" y="4465617"/>
            <a:ext cx="3641035" cy="20544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BD31B-7066-5484-0260-F0F3329BB1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4080" y="820270"/>
            <a:ext cx="5297649" cy="343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87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7EE08-55D2-BF49-F968-A41E9B63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A20FF3E-9C11-4CCD-8831-B3C74258D0D3}"/>
              </a:ext>
            </a:extLst>
          </p:cNvPr>
          <p:cNvGrpSpPr/>
          <p:nvPr/>
        </p:nvGrpSpPr>
        <p:grpSpPr>
          <a:xfrm>
            <a:off x="3112545" y="60485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150036A-7628-AF72-96D7-ABC23AF5FE0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9204889-0F0E-5AC6-3671-B46C47EE7AB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BA4E0ED9-BC76-A871-324E-2533D53CB5E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D8D45D6-7C4E-88BB-1BFF-B032EE3942AD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Overall Sales &amp; Profit Analysis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FE912755-E287-2068-01CD-B4A97287D9C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DD4DFD77-8D19-307F-AD97-0624234ABC0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D0497E-3DB2-3864-FB52-5F3F3AEE9319}"/>
              </a:ext>
            </a:extLst>
          </p:cNvPr>
          <p:cNvSpPr txBox="1"/>
          <p:nvPr/>
        </p:nvSpPr>
        <p:spPr>
          <a:xfrm>
            <a:off x="571397" y="1309290"/>
            <a:ext cx="6093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sales and profit values were calculated to understand the general performance of the Superstore dataset.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CE5BAC-AD59-84A9-3E5F-B7308106E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4897" y="1231346"/>
            <a:ext cx="5082296" cy="47162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6578F5-7602-38B0-5239-1310FDA81A2A}"/>
              </a:ext>
            </a:extLst>
          </p:cNvPr>
          <p:cNvSpPr txBox="1"/>
          <p:nvPr/>
        </p:nvSpPr>
        <p:spPr>
          <a:xfrm>
            <a:off x="444807" y="2757800"/>
            <a:ext cx="60935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were calculated using the Sales column.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were calculated to understand the average sales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was calculated using the Profit column.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was calculated to understand the average profit value.</a:t>
            </a:r>
          </a:p>
        </p:txBody>
      </p:sp>
    </p:spTree>
    <p:extLst>
      <p:ext uri="{BB962C8B-B14F-4D97-AF65-F5344CB8AC3E}">
        <p14:creationId xmlns:p14="http://schemas.microsoft.com/office/powerpoint/2010/main" val="265010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99C3-3809-1290-8899-07E54EB7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A681DB2-14DD-BAD0-5B2D-5136D8296C78}"/>
              </a:ext>
            </a:extLst>
          </p:cNvPr>
          <p:cNvGrpSpPr/>
          <p:nvPr/>
        </p:nvGrpSpPr>
        <p:grpSpPr>
          <a:xfrm>
            <a:off x="3112545" y="60485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EC89E1-BCF1-24E1-CCBE-83CD8E0DC6A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B0460AC-0807-D199-402F-57A61E7BD87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8DF5DC1-1CCD-6CA2-A0A8-3139E5D4CC8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7B325EE-69B6-1479-A01C-2685F94CED70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Sales Forecasting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C9C0D6F-E257-1A24-46D5-C2D1B854F7B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71839E13-BC27-65D4-927C-58EAD8DED81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5FCA69-815F-0A26-E16E-EB380935CC7F}"/>
              </a:ext>
            </a:extLst>
          </p:cNvPr>
          <p:cNvSpPr txBox="1"/>
          <p:nvPr/>
        </p:nvSpPr>
        <p:spPr>
          <a:xfrm>
            <a:off x="621680" y="1229328"/>
            <a:ext cx="6093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Regression model was trained using historical monthly sales data to estimate sales for the next six months.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7D84B3-3FDD-3BBD-C245-FC338E0C97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80" y="1231346"/>
            <a:ext cx="5273269" cy="43973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5770B-7153-1BFF-F5F0-FEEBBDA13224}"/>
              </a:ext>
            </a:extLst>
          </p:cNvPr>
          <p:cNvSpPr txBox="1"/>
          <p:nvPr/>
        </p:nvSpPr>
        <p:spPr>
          <a:xfrm>
            <a:off x="621680" y="2698627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generated total sales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2.30 million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total profit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286.40 thousand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average sales was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229.86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average profit was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28.66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CA6911-7880-26FA-38AA-24848F5182FF}"/>
              </a:ext>
            </a:extLst>
          </p:cNvPr>
          <p:cNvSpPr txBox="1"/>
          <p:nvPr/>
        </p:nvSpPr>
        <p:spPr>
          <a:xfrm>
            <a:off x="621680" y="4377445"/>
            <a:ext cx="6093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forecast shows a gradual increase in sales over the next six months based on the historical trend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800144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C8C8F-DEF7-3EDE-02D6-2A354A7A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9D3A5E0-81E9-D0CF-C971-42BEFDBB1B02}"/>
              </a:ext>
            </a:extLst>
          </p:cNvPr>
          <p:cNvGrpSpPr/>
          <p:nvPr/>
        </p:nvGrpSpPr>
        <p:grpSpPr>
          <a:xfrm>
            <a:off x="3112545" y="60485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3F892C2-3DEB-C49D-A453-3EE8E2D36C9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ABF6F3A-F273-1853-4CC6-342E3CEE89B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7AF06AE-5684-3D74-8D36-B5E0096ADB5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4F43798-64CA-7248-58E5-871A888774F8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Forecasted Sales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E583B1BD-FCBB-E284-2349-25C20671908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16" name="object 3">
            <a:extLst>
              <a:ext uri="{FF2B5EF4-FFF2-40B4-BE49-F238E27FC236}">
                <a16:creationId xmlns:a16="http://schemas.microsoft.com/office/drawing/2014/main" id="{EE8EEDBD-FA5E-9D85-EB19-F0D2EADA983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46DAC3-1464-8260-A165-9E35D93A85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7870" y="1349165"/>
            <a:ext cx="3867690" cy="3734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D46722-2185-CE56-E4E7-53FD53C731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443" y="1918913"/>
            <a:ext cx="7328544" cy="302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39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C49B0-5CE4-F95B-79D9-D003611DE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F309D85-C064-4B18-B2FA-E08AED0A79EC}"/>
              </a:ext>
            </a:extLst>
          </p:cNvPr>
          <p:cNvGrpSpPr/>
          <p:nvPr/>
        </p:nvGrpSpPr>
        <p:grpSpPr>
          <a:xfrm>
            <a:off x="3032536" y="-70729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0348916-2B24-A1AA-5017-A8D2556254F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074E58C-1805-A4B0-9E8E-C77A0C42263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74E72A0-472A-F8E8-4719-11C910A8D29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4517F85-4076-1DBB-6FBC-B9B999572D3B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Workflow</a:t>
              </a:r>
            </a:p>
            <a:p>
              <a:pPr algn="ctr"/>
              <a:endPara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2BCC053-1E4D-7D17-0E05-99984AE12A5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207AD4D3-F433-2DF5-A134-7A5D5146FDCA}"/>
              </a:ext>
            </a:extLst>
          </p:cNvPr>
          <p:cNvSpPr/>
          <p:nvPr/>
        </p:nvSpPr>
        <p:spPr>
          <a:xfrm>
            <a:off x="3712736" y="957679"/>
            <a:ext cx="3684967" cy="3547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293B"/>
                </a:solidFill>
                <a:latin typeface="Aptos"/>
              </a:defRPr>
            </a:pPr>
            <a:r>
              <a:rPr dirty="0"/>
              <a:t>Dataset Collection</a:t>
            </a:r>
          </a:p>
        </p:txBody>
      </p:sp>
      <p:sp>
        <p:nvSpPr>
          <p:cNvPr id="15" name="Down Arrow 3">
            <a:extLst>
              <a:ext uri="{FF2B5EF4-FFF2-40B4-BE49-F238E27FC236}">
                <a16:creationId xmlns:a16="http://schemas.microsoft.com/office/drawing/2014/main" id="{08DCCA4B-0F7A-8C84-51DA-B14C39A9A0C8}"/>
              </a:ext>
            </a:extLst>
          </p:cNvPr>
          <p:cNvSpPr/>
          <p:nvPr/>
        </p:nvSpPr>
        <p:spPr>
          <a:xfrm>
            <a:off x="5491444" y="1583003"/>
            <a:ext cx="208092" cy="223361"/>
          </a:xfrm>
          <a:prstGeom prst="down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62ACAF31-B882-B1C5-8126-7208D6F90930}"/>
              </a:ext>
            </a:extLst>
          </p:cNvPr>
          <p:cNvSpPr/>
          <p:nvPr/>
        </p:nvSpPr>
        <p:spPr>
          <a:xfrm>
            <a:off x="3753006" y="1859325"/>
            <a:ext cx="3684967" cy="3547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293B"/>
                </a:solidFill>
                <a:latin typeface="Aptos"/>
              </a:defRPr>
            </a:pPr>
            <a:r>
              <a:t>Data Import</a:t>
            </a:r>
          </a:p>
        </p:txBody>
      </p:sp>
      <p:sp>
        <p:nvSpPr>
          <p:cNvPr id="19" name="Down Arrow 5">
            <a:extLst>
              <a:ext uri="{FF2B5EF4-FFF2-40B4-BE49-F238E27FC236}">
                <a16:creationId xmlns:a16="http://schemas.microsoft.com/office/drawing/2014/main" id="{3FBC257D-845C-E71D-68C9-216139982538}"/>
              </a:ext>
            </a:extLst>
          </p:cNvPr>
          <p:cNvSpPr/>
          <p:nvPr/>
        </p:nvSpPr>
        <p:spPr>
          <a:xfrm>
            <a:off x="5491444" y="2460827"/>
            <a:ext cx="208092" cy="223361"/>
          </a:xfrm>
          <a:prstGeom prst="down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BB01032B-44E8-ADFD-AD7F-D5439BDC7D34}"/>
              </a:ext>
            </a:extLst>
          </p:cNvPr>
          <p:cNvSpPr/>
          <p:nvPr/>
        </p:nvSpPr>
        <p:spPr>
          <a:xfrm>
            <a:off x="3753005" y="2768350"/>
            <a:ext cx="3684967" cy="3547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293B"/>
                </a:solidFill>
                <a:latin typeface="Aptos"/>
              </a:defRPr>
            </a:pPr>
            <a:r>
              <a:t>Dataset Understanding</a:t>
            </a:r>
          </a:p>
        </p:txBody>
      </p:sp>
      <p:sp>
        <p:nvSpPr>
          <p:cNvPr id="23" name="Down Arrow 7">
            <a:extLst>
              <a:ext uri="{FF2B5EF4-FFF2-40B4-BE49-F238E27FC236}">
                <a16:creationId xmlns:a16="http://schemas.microsoft.com/office/drawing/2014/main" id="{2A86F8A3-4082-A1C6-51EF-BDCD79672713}"/>
              </a:ext>
            </a:extLst>
          </p:cNvPr>
          <p:cNvSpPr/>
          <p:nvPr/>
        </p:nvSpPr>
        <p:spPr>
          <a:xfrm>
            <a:off x="5491444" y="3338651"/>
            <a:ext cx="208092" cy="223361"/>
          </a:xfrm>
          <a:prstGeom prst="down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6977316D-4191-C382-061C-5E5AB2AD2A96}"/>
              </a:ext>
            </a:extLst>
          </p:cNvPr>
          <p:cNvSpPr/>
          <p:nvPr/>
        </p:nvSpPr>
        <p:spPr>
          <a:xfrm>
            <a:off x="3753005" y="3677441"/>
            <a:ext cx="3684967" cy="3547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293B"/>
                </a:solidFill>
                <a:latin typeface="Aptos"/>
              </a:defRPr>
            </a:pPr>
            <a:r>
              <a:rPr dirty="0"/>
              <a:t>Data Preprocessing</a:t>
            </a:r>
          </a:p>
        </p:txBody>
      </p:sp>
      <p:sp>
        <p:nvSpPr>
          <p:cNvPr id="27" name="Down Arrow 9">
            <a:extLst>
              <a:ext uri="{FF2B5EF4-FFF2-40B4-BE49-F238E27FC236}">
                <a16:creationId xmlns:a16="http://schemas.microsoft.com/office/drawing/2014/main" id="{AA241306-CBA6-13D7-168D-BCDB51D56299}"/>
              </a:ext>
            </a:extLst>
          </p:cNvPr>
          <p:cNvSpPr/>
          <p:nvPr/>
        </p:nvSpPr>
        <p:spPr>
          <a:xfrm>
            <a:off x="5491444" y="4216475"/>
            <a:ext cx="208092" cy="223361"/>
          </a:xfrm>
          <a:prstGeom prst="down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0">
            <a:extLst>
              <a:ext uri="{FF2B5EF4-FFF2-40B4-BE49-F238E27FC236}">
                <a16:creationId xmlns:a16="http://schemas.microsoft.com/office/drawing/2014/main" id="{1D89B69D-618E-39FA-594A-D4A883C06D1B}"/>
              </a:ext>
            </a:extLst>
          </p:cNvPr>
          <p:cNvSpPr/>
          <p:nvPr/>
        </p:nvSpPr>
        <p:spPr>
          <a:xfrm>
            <a:off x="3753004" y="4474373"/>
            <a:ext cx="3684967" cy="3547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293B"/>
                </a:solidFill>
                <a:latin typeface="Aptos"/>
              </a:defRPr>
            </a:pPr>
            <a:r>
              <a:t>Sales Analysis</a:t>
            </a:r>
          </a:p>
        </p:txBody>
      </p:sp>
      <p:sp>
        <p:nvSpPr>
          <p:cNvPr id="31" name="Down Arrow 11">
            <a:extLst>
              <a:ext uri="{FF2B5EF4-FFF2-40B4-BE49-F238E27FC236}">
                <a16:creationId xmlns:a16="http://schemas.microsoft.com/office/drawing/2014/main" id="{4DF6A60A-62ED-08D5-C214-2A2A9CDB84BC}"/>
              </a:ext>
            </a:extLst>
          </p:cNvPr>
          <p:cNvSpPr/>
          <p:nvPr/>
        </p:nvSpPr>
        <p:spPr>
          <a:xfrm>
            <a:off x="5491444" y="5094299"/>
            <a:ext cx="208092" cy="223361"/>
          </a:xfrm>
          <a:prstGeom prst="down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09D72D4E-1EEA-E661-3251-F75AF91B680A}"/>
              </a:ext>
            </a:extLst>
          </p:cNvPr>
          <p:cNvSpPr/>
          <p:nvPr/>
        </p:nvSpPr>
        <p:spPr>
          <a:xfrm>
            <a:off x="3753004" y="5405461"/>
            <a:ext cx="3684967" cy="3547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293B"/>
                </a:solidFill>
                <a:latin typeface="Aptos"/>
              </a:defRPr>
            </a:pPr>
            <a:r>
              <a:t>Visualization</a:t>
            </a:r>
          </a:p>
        </p:txBody>
      </p:sp>
      <p:sp>
        <p:nvSpPr>
          <p:cNvPr id="35" name="Down Arrow 13">
            <a:extLst>
              <a:ext uri="{FF2B5EF4-FFF2-40B4-BE49-F238E27FC236}">
                <a16:creationId xmlns:a16="http://schemas.microsoft.com/office/drawing/2014/main" id="{9D785F62-C82E-D75F-5B8A-B37F90A273E5}"/>
              </a:ext>
            </a:extLst>
          </p:cNvPr>
          <p:cNvSpPr/>
          <p:nvPr/>
        </p:nvSpPr>
        <p:spPr>
          <a:xfrm>
            <a:off x="5491444" y="5972123"/>
            <a:ext cx="208092" cy="223361"/>
          </a:xfrm>
          <a:prstGeom prst="downArrow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FBD37FB2-39BD-CD71-F934-8827F0AABA0B}"/>
              </a:ext>
            </a:extLst>
          </p:cNvPr>
          <p:cNvSpPr/>
          <p:nvPr/>
        </p:nvSpPr>
        <p:spPr>
          <a:xfrm>
            <a:off x="3712736" y="6230021"/>
            <a:ext cx="3684967" cy="3547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293B"/>
                </a:solidFill>
                <a:latin typeface="Aptos"/>
              </a:defRPr>
            </a:pPr>
            <a:r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253672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152A7E3-3637-BE67-484E-D565BF4E30FB}"/>
              </a:ext>
            </a:extLst>
          </p:cNvPr>
          <p:cNvGrpSpPr/>
          <p:nvPr/>
        </p:nvGrpSpPr>
        <p:grpSpPr>
          <a:xfrm>
            <a:off x="3429000" y="223070"/>
            <a:ext cx="5334000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50525D1-825C-7874-AE67-5828C81333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4A732DC6-A4D8-4234-7E4D-37FD379A60E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5CC64866-866C-6248-58E1-FDBF8B5CFB9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3832470-22A9-181E-A57F-6EAD08EE4A6F}"/>
                </a:ext>
              </a:extLst>
            </p:cNvPr>
            <p:cNvSpPr/>
            <p:nvPr/>
          </p:nvSpPr>
          <p:spPr>
            <a:xfrm>
              <a:off x="2881913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  <a:endParaRPr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CD7815D-F437-D306-8325-922B8FFD79ED}"/>
              </a:ext>
            </a:extLst>
          </p:cNvPr>
          <p:cNvSpPr txBox="1"/>
          <p:nvPr/>
        </p:nvSpPr>
        <p:spPr>
          <a:xfrm>
            <a:off x="782791" y="1354640"/>
            <a:ext cx="104621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generated: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2,297,200.86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generated: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286,397.02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recorded the highest total sales: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725,457.82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recorded the highest category sales: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836,154.03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also recorded the highest category profit: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145,454.95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Tables, Bookcases and Supplies were loss-making sub-categories.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showed variation across 2014–2017.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Linear Regression was used to forecast the next six months.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001F9DD1-7674-4114-2AFB-940FFCEEA2B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571900-16F9-4305-2552-7179C1A27176}"/>
              </a:ext>
            </a:extLst>
          </p:cNvPr>
          <p:cNvSpPr txBox="1"/>
          <p:nvPr/>
        </p:nvSpPr>
        <p:spPr>
          <a:xfrm>
            <a:off x="782791" y="4332870"/>
            <a:ext cx="104621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Superstore dataset was successfully analyzed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aggregation, visualization, profitability analysis, and basic forecasting. The EDA helped identify regional, category, product, monthly sales and profit patterns from the dataset.</a:t>
            </a:r>
          </a:p>
        </p:txBody>
      </p:sp>
    </p:spTree>
    <p:extLst>
      <p:ext uri="{BB962C8B-B14F-4D97-AF65-F5344CB8AC3E}">
        <p14:creationId xmlns:p14="http://schemas.microsoft.com/office/powerpoint/2010/main" val="3349434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6DC5C-07E6-71A8-B9F5-6936B48CFE44}"/>
              </a:ext>
            </a:extLst>
          </p:cNvPr>
          <p:cNvSpPr txBox="1"/>
          <p:nvPr/>
        </p:nvSpPr>
        <p:spPr>
          <a:xfrm>
            <a:off x="3844413" y="2413337"/>
            <a:ext cx="48801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94CCF00-902C-6AC5-6898-B86F69BA91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2558" y="223070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2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1297</TotalTime>
  <Words>1079</Words>
  <Application>Microsoft Office PowerPoint</Application>
  <PresentationFormat>Widescreen</PresentationFormat>
  <Paragraphs>141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chandinidevi garapati</dc:creator>
  <cp:lastModifiedBy>Sahasra Grandhi</cp:lastModifiedBy>
  <cp:revision>12</cp:revision>
  <dcterms:created xsi:type="dcterms:W3CDTF">2026-08-05T13:26:21Z</dcterms:created>
  <dcterms:modified xsi:type="dcterms:W3CDTF">2026-10-01T01:48:07Z</dcterms:modified>
</cp:coreProperties>
</file>